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reedevale-create/DV_Project" TargetMode="External"/><Relationship Id="rId4" Type="http://schemas.openxmlformats.org/officeDocument/2006/relationships/hyperlink" Target="https://dvproject-jtrdtcaqjn3hdd9m5j6d4d.streamlit.app/" TargetMode="External"/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pawn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58368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1481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· FINAL PROJECT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178308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Chess at Scale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594360" y="2788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8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Lichess Analysis of 6.24 Million Games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94360" y="34290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and notebook analysis — ratings, openings, time controls, outcomes, and play patterns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boar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29260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02920" y="1481328"/>
            <a:ext cx="2679192" cy="1481328"/>
          </a:xfrm>
          <a:prstGeom prst="roundRect">
            <a:avLst>
              <a:gd name="adj" fmla="val 4938"/>
            </a:avLst>
          </a:prstGeom>
          <a:solidFill>
            <a:srgbClr val="F3F1EA"/>
          </a:solidFill>
          <a:ln/>
          <a:effectLst>
            <a:outerShdw sx="100000" sy="100000" kx="0" ky="0" algn="bl" rotWithShape="0" blurRad="88900" dist="25400" dir="2700000">
              <a:srgbClr val="9AA39D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4088" y="1645920"/>
            <a:ext cx="2276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6.24M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04088" y="235000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Lichess games analysed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10712" y="1481328"/>
            <a:ext cx="2679192" cy="1481328"/>
          </a:xfrm>
          <a:prstGeom prst="roundRect">
            <a:avLst>
              <a:gd name="adj" fmla="val 4938"/>
            </a:avLst>
          </a:prstGeom>
          <a:solidFill>
            <a:srgbClr val="F3F1EA"/>
          </a:solidFill>
          <a:ln/>
          <a:effectLst>
            <a:outerShdw sx="100000" sy="100000" kx="0" ky="0" algn="bl" rotWithShape="0" blurRad="88900" dist="25400" dir="2700000">
              <a:srgbClr val="9AA39D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11880" y="1645920"/>
            <a:ext cx="2276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1741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611880" y="235000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player Elo rating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18504" y="1481328"/>
            <a:ext cx="2679192" cy="1481328"/>
          </a:xfrm>
          <a:prstGeom prst="roundRect">
            <a:avLst>
              <a:gd name="adj" fmla="val 4938"/>
            </a:avLst>
          </a:prstGeom>
          <a:solidFill>
            <a:srgbClr val="F3F1EA"/>
          </a:solidFill>
          <a:ln/>
          <a:effectLst>
            <a:outerShdw sx="100000" sy="100000" kx="0" ky="0" algn="bl" rotWithShape="0" blurRad="88900" dist="25400" dir="2700000">
              <a:srgbClr val="9AA39D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19672" y="1645920"/>
            <a:ext cx="2276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49.67%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6519672" y="235000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games won by White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218688"/>
            <a:ext cx="2679192" cy="1481328"/>
          </a:xfrm>
          <a:prstGeom prst="roundRect">
            <a:avLst>
              <a:gd name="adj" fmla="val 4938"/>
            </a:avLst>
          </a:prstGeom>
          <a:solidFill>
            <a:srgbClr val="F3F1EA"/>
          </a:solidFill>
          <a:ln/>
          <a:effectLst>
            <a:outerShdw sx="100000" sy="100000" kx="0" ky="0" algn="bl" rotWithShape="0" blurRad="88900" dist="25400" dir="2700000">
              <a:srgbClr val="9AA39D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04088" y="3383280"/>
            <a:ext cx="2276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3.83%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704088" y="408736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games end in a draw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410712" y="3218688"/>
            <a:ext cx="2679192" cy="1481328"/>
          </a:xfrm>
          <a:prstGeom prst="roundRect">
            <a:avLst>
              <a:gd name="adj" fmla="val 4938"/>
            </a:avLst>
          </a:prstGeom>
          <a:solidFill>
            <a:srgbClr val="F3F1EA"/>
          </a:solidFill>
          <a:ln/>
          <a:effectLst>
            <a:outerShdw sx="100000" sy="100000" kx="0" ky="0" algn="bl" rotWithShape="0" blurRad="88900" dist="25400" dir="2700000">
              <a:srgbClr val="9AA39D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611880" y="3383280"/>
            <a:ext cx="2276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Sicilian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3611880" y="408736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opening family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318504" y="3218688"/>
            <a:ext cx="2679192" cy="1481328"/>
          </a:xfrm>
          <a:prstGeom prst="roundRect">
            <a:avLst>
              <a:gd name="adj" fmla="val 4938"/>
            </a:avLst>
          </a:prstGeom>
          <a:solidFill>
            <a:srgbClr val="F3F1EA"/>
          </a:solidFill>
          <a:ln/>
          <a:effectLst>
            <a:outerShdw sx="100000" sy="100000" kx="0" ky="0" algn="bl" rotWithShape="0" blurRad="88900" dist="25400" dir="2700000">
              <a:srgbClr val="9AA39D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519672" y="3383280"/>
            <a:ext cx="2276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6519672" y="408736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questions answered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at Scale · Lichess Analysis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59536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boar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29260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Distribution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are concentrated in the 1200–2200 range.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shows strong participation from intermediate and advanced players.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uses this view to compare player skill bands.</a:t>
            </a:r>
            <a:endParaRPr lang="en-US" sz="1450" dirty="0"/>
          </a:p>
        </p:txBody>
      </p:sp>
      <p:pic>
        <p:nvPicPr>
          <p:cNvPr id="6" name="Image 1" descr="/tmp/deck/Data/image1-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143000"/>
            <a:ext cx="4709160" cy="2862072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9AA39D">
                <a:alpha val="3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5720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at Scale · Lichess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boar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29260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40680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394960" y="65836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Shares by Rating Band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4068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wins are slightly more common overall.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Higher-rated players show more decisive outcomes and fewer draws.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players convert their advantage more often.</a:t>
            </a:r>
            <a:endParaRPr lang="en-US" sz="1450" dirty="0"/>
          </a:p>
        </p:txBody>
      </p:sp>
      <p:pic>
        <p:nvPicPr>
          <p:cNvPr id="6" name="Image 1" descr="/tmp/deck/Data/image2-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4709160" cy="2862072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9AA39D">
                <a:alpha val="3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5720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at Scale · Lichess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boar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29260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Games End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Resignation and checkmate dominate the result types.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forfeit is common in lower-rated groups.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Lower-rated games are often decided by practical errors rather than pure tactical endings.</a:t>
            </a:r>
            <a:endParaRPr lang="en-US" sz="1450" dirty="0"/>
          </a:p>
        </p:txBody>
      </p:sp>
      <p:pic>
        <p:nvPicPr>
          <p:cNvPr id="6" name="Image 1" descr="/tmp/deck/Data/image3-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143000"/>
            <a:ext cx="4709160" cy="2862072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9AA39D">
                <a:alpha val="3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5720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at Scale · Lichess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boar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29260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40680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394960" y="65836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 Preferences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4068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Sicilian Defense is the most prominent opening in the dataset.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choice changes by rating band, suggesting different strategic preferences.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Openings are a strong lens for comparing player styles.</a:t>
            </a:r>
            <a:endParaRPr lang="en-US" sz="1450" dirty="0"/>
          </a:p>
        </p:txBody>
      </p:sp>
      <p:pic>
        <p:nvPicPr>
          <p:cNvPr id="6" name="Image 1" descr="/tmp/deck/Data/image4-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4709160" cy="2862072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9AA39D">
                <a:alpha val="3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5720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at Scale · Lichess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boar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29260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First-Move Choices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1.e4 is the most common first move — about 58% of games.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1.d4 is next most common and shows a slightly higher White win rate.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the opening phase a key part of the interactive dashboard.</a:t>
            </a:r>
            <a:endParaRPr lang="en-US" sz="1450" dirty="0"/>
          </a:p>
        </p:txBody>
      </p:sp>
      <p:pic>
        <p:nvPicPr>
          <p:cNvPr id="6" name="Image 1" descr="/tmp/deck/Data/image5-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143000"/>
            <a:ext cx="4709160" cy="2862072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9AA39D">
                <a:alpha val="3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5720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at Scale · Lichess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boar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29260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40680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CONTROLS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394960" y="65836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Controls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4068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 is the most common format, followed by Bullet and Classical.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Correspondence is far less frequent but still part of the dataset.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online chess dominates the sample.</a:t>
            </a:r>
            <a:endParaRPr lang="en-US" sz="1450" dirty="0"/>
          </a:p>
        </p:txBody>
      </p:sp>
      <p:pic>
        <p:nvPicPr>
          <p:cNvPr id="6" name="Image 1" descr="/tmp/deck/Data/image6-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4709160" cy="2862072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9AA39D">
                <a:alpha val="3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5720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at Scale · Lichess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boar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29260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CONTROLS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Games, Decisive Results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formats produce a slightly higher share of decisive outcomes.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and Blitz show less draw tendency than slower formats.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clearly shapes the style of play.</a:t>
            </a:r>
            <a:endParaRPr lang="en-US" sz="1450" dirty="0"/>
          </a:p>
        </p:txBody>
      </p:sp>
      <p:pic>
        <p:nvPicPr>
          <p:cNvPr id="6" name="Image 1" descr="/tmp/deck/Data/image7-2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143000"/>
            <a:ext cx="4709160" cy="2862072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9AA39D">
                <a:alpha val="3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5720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at Scale · Lichess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boar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29260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40680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394960" y="65836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Length and Pace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4068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game length rises as the format becomes slower.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Higher-rated players tend to play longer games within the same speed category.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and time control together shape game structure.</a:t>
            </a:r>
            <a:endParaRPr lang="en-US" sz="1450" dirty="0"/>
          </a:p>
        </p:txBody>
      </p:sp>
      <p:pic>
        <p:nvPicPr>
          <p:cNvPr id="6" name="Image 1" descr="/tmp/deck/Data/image8-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4709160" cy="2862072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9AA39D">
                <a:alpha val="3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5720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at Scale · Lichess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boar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29260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Gap and Win Probability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rating advantage grows, the stronger side wins more often.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is a strong predictor of game outcome.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makes this relationship easy to explore interactively.</a:t>
            </a:r>
            <a:endParaRPr lang="en-US" sz="1450" dirty="0"/>
          </a:p>
        </p:txBody>
      </p:sp>
      <p:pic>
        <p:nvPicPr>
          <p:cNvPr id="6" name="Image 1" descr="/tmp/deck/Data/image9-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143000"/>
            <a:ext cx="4709160" cy="2862072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9AA39D">
                <a:alpha val="3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5720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at Scale · Lichess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boar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29260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40680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394960" y="65836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Are Games Played?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4068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heatmap shows clear weekly and hourly activity patterns.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chess activity is concentrated in the evenings and at weekends.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connects gameplay behaviour with audience and engagement patterns.</a:t>
            </a:r>
            <a:endParaRPr lang="en-US" sz="1450" dirty="0"/>
          </a:p>
        </p:txBody>
      </p:sp>
      <p:pic>
        <p:nvPicPr>
          <p:cNvPr id="6" name="Image 1" descr="/tmp/deck/Data/image10-2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4709160" cy="2862072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9AA39D">
                <a:alpha val="3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57200" y="4828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at Scale · Lichess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28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63024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18562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are shaped by fundamentals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22199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opening choice, time control, and game pace all leave a measurable mark on how games end.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6916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63024"/>
          </a:solidFill>
          <a:ln/>
        </p:spPr>
      </p:sp>
      <p:sp>
        <p:nvSpPr>
          <p:cNvPr id="9" name="Text 7"/>
          <p:cNvSpPr/>
          <p:nvPr/>
        </p:nvSpPr>
        <p:spPr>
          <a:xfrm>
            <a:off x="500176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0" y="18562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is the strongest predictor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0" y="222199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win-probability curve rises steadily with rating advantage — skill converts to results.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64992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63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34440" y="35295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changes the game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95344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formats are more decisive; slower formats produce longer, more balanced games.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3364992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63024"/>
          </a:solidFill>
          <a:ln/>
        </p:spPr>
      </p:sp>
      <p:sp>
        <p:nvSpPr>
          <p:cNvPr id="17" name="Text 15"/>
          <p:cNvSpPr/>
          <p:nvPr/>
        </p:nvSpPr>
        <p:spPr>
          <a:xfrm>
            <a:off x="5001768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86400" y="35295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becomes a story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3895344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interactive dashboard turns 6.24M games into explorable, understandable insights.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pawn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685800"/>
            <a:ext cx="621792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the Project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code, data preparation, and the live dashboard are public.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51560" y="288036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163024"/>
          </a:solidFill>
          <a:ln/>
        </p:spPr>
      </p:sp>
      <p:sp>
        <p:nvSpPr>
          <p:cNvPr id="6" name="Text 3"/>
          <p:cNvSpPr/>
          <p:nvPr/>
        </p:nvSpPr>
        <p:spPr>
          <a:xfrm>
            <a:off x="1325880" y="3090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325880" y="34015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D8DD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github.com/shreedevale-create/DV_Project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288036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163024"/>
          </a:solidFill>
          <a:ln/>
        </p:spPr>
      </p:sp>
      <p:sp>
        <p:nvSpPr>
          <p:cNvPr id="9" name="Text 6"/>
          <p:cNvSpPr/>
          <p:nvPr/>
        </p:nvSpPr>
        <p:spPr>
          <a:xfrm>
            <a:off x="4983480" y="3090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DASHBOARD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83480" y="34015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D8DD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dvproject…streamlit.app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2026-08-01T14:30:27Z</dcterms:created>
  <dcterms:modified xsi:type="dcterms:W3CDTF">2026-08-01T14:30:27Z</dcterms:modified>
</cp:coreProperties>
</file>